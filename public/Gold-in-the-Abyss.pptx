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IMF</c:v>
                </c:pt>
              </c:strCache>
            </c:strRef>
          </c:tx>
          <c:spPr>
            <a:solidFill>
              <a:srgbClr val="D4AF37"/>
            </a:solidFill>
            <a:ln w="38100" cap="flat">
              <a:solidFill>
                <a:srgbClr val="D4AF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</c:v>
                </c:pt>
                <c:pt idx="1">
                  <c:v>3.4</c:v>
                </c:pt>
                <c:pt idx="2">
                  <c:v>3.1</c:v>
                </c:pt>
                <c:pt idx="3">
                  <c:v>3.2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World Bank</c:v>
                </c:pt>
              </c:strCache>
            </c:strRef>
          </c:tx>
          <c:spPr>
            <a:solidFill>
              <a:srgbClr val="F4D03F"/>
            </a:solidFill>
            <a:ln w="38100" cap="flat">
              <a:solidFill>
                <a:srgbClr val="F4D0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D03F"/>
              </a:solidFill>
              <a:ln w="9525" cap="flat">
                <a:solidFill>
                  <a:srgbClr val="F4D0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3.3</c:v>
                </c:pt>
                <c:pt idx="1">
                  <c:v>2.7</c:v>
                </c:pt>
                <c:pt idx="2">
                  <c:v>2.6</c:v>
                </c:pt>
                <c:pt idx="3">
                  <c:v>2.7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</c:v>
                </c:pt>
              </c:strCache>
            </c:strRef>
          </c:tx>
          <c:spPr>
            <a:solidFill>
              <a:srgbClr val="4ECDC4"/>
            </a:solidFill>
            <a:ln w="38100" cap="flat">
              <a:solidFill>
                <a:srgbClr val="4ECD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3.3</c:v>
                </c:pt>
                <c:pt idx="1">
                  <c:v>2.9</c:v>
                </c:pt>
                <c:pt idx="2">
                  <c:v>2.7</c:v>
                </c:pt>
                <c:pt idx="3">
                  <c:v>2.9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5F2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2"/>
        </c:scaling>
        <c:delete val="0"/>
        <c:axPos val="l"/>
        <c:majorGridlines>
          <c:spPr>
            <a:ln w="6350" cap="flat">
              <a:solidFill>
                <a:srgbClr val="2630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5F2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5F2E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FY26 forecast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D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GoI Advance Est.</c:v>
                  </c:pt>
                  <c:pt idx="1">
                    <c:v>RBI</c:v>
                  </c:pt>
                  <c:pt idx="2">
                    <c:v>Goldman Sachs</c:v>
                  </c:pt>
                  <c:pt idx="3">
                    <c:v>IMF</c:v>
                  </c:pt>
                  <c:pt idx="4">
                    <c:v>World Bank</c:v>
                  </c:pt>
                  <c:pt idx="5">
                    <c:v>UN</c:v>
                  </c:pt>
                  <c:pt idx="6">
                    <c:v>Moody's (May)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7.4</c:v>
                </c:pt>
                <c:pt idx="1">
                  <c:v>7.3</c:v>
                </c:pt>
                <c:pt idx="2">
                  <c:v>6.9</c:v>
                </c:pt>
                <c:pt idx="3">
                  <c:v>6.6</c:v>
                </c:pt>
                <c:pt idx="4">
                  <c:v>6.5</c:v>
                </c:pt>
                <c:pt idx="5">
                  <c:v>6.6</c:v>
                </c:pt>
                <c:pt idx="6">
                  <c:v>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4D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5F2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b"/>
        <c:majorGridlines>
          <c:spPr>
            <a:ln w="6350" cap="flat">
              <a:solidFill>
                <a:srgbClr val="2630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5F2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A"/>
        </a:solidFill>
        <a:ln>
          <a:noFill/>
        </a:ln>
        <a:effectLst/>
      </c:spPr>
    </c:plotArea>
    <c:plotVisOnly val="1"/>
    <c:dispBlanksAs val="span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91640"/>
            <a:ext cx="9144000" cy="2331720"/>
          </a:xfrm>
          <a:prstGeom prst="rect">
            <a:avLst/>
          </a:prstGeom>
          <a:solidFill>
            <a:srgbClr val="0A0E1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0"/>
            <a:ext cx="45720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RITZ MEDIA WORLD RESEARCH BRIEF · MAY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in the Abyss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 is bracing for a slowdown. Where does India stand — and what should job-goers and small businesses do about it?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BACKDROP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6858000" cy="3291840"/>
          </a:xfrm>
          <a:prstGeom prst="rect">
            <a:avLst/>
          </a:prstGeom>
          <a:solidFill>
            <a:srgbClr val="0A0E1A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major forecaster has just cut their 2026 number.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IMF, World Bank and UN have all downgraded global growth for 2026. </a:t>
            </a:r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2020s are on track to be the weakest decade for global growth since the 1960s —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decade-defining shift, not a passing wobble.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IMF WEO Apr 2026 · World Bank GEP Jan 2026 · UN WESP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 THE ABYSS  ·  RITZ MEDIA WORLD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growth is bending downward.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real GDP growth (%), three institutions, April 2026 forecasts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6126480" cy="30175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5943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6"/>
          <p:cNvSpPr/>
          <p:nvPr/>
        </p:nvSpPr>
        <p:spPr>
          <a:xfrm>
            <a:off x="6629400" y="1737360"/>
            <a:ext cx="2331720" cy="3017520"/>
          </a:xfrm>
          <a:prstGeom prst="rect">
            <a:avLst/>
          </a:prstGeom>
          <a:solidFill>
            <a:srgbClr val="0A0E1A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737360"/>
            <a:ext cx="45720" cy="3017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DRAGGING IT DOWN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66560" y="219456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conflict (Feb 2026) — energy &amp; shipping shock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tariff regime — protectionism resets trade flows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structural slowdown — drag on Asia demand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Subdued private investment — weak business confidence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IMF, World Bank, UN — Apr/Jan 2026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80160"/>
            <a:ext cx="7772400" cy="310896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— does India catch a cold?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700" i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world sneezes, India usually sneezes too — quieter, but real. </a:t>
            </a:r>
            <a:pPr indent="0" marL="0">
              <a:lnSpc>
                <a:spcPct val="145000"/>
              </a:lnSpc>
              <a:buNone/>
            </a:pPr>
            <a:r>
              <a:rPr lang="en-US" sz="1700" i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 for 2026: </a:t>
            </a:r>
            <a:pPr indent="0" marL="0">
              <a:lnSpc>
                <a:spcPct val="145000"/>
              </a:lnSpc>
              <a:buNone/>
            </a:pPr>
            <a:r>
              <a:rPr lang="en-US" sz="1700" b="1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wounded, not knocked down.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 THE ABYSS  ·  RITZ MEDIA WORLD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THE NUMBERS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slowing — but it is still the fastest-growing major economy.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5943600" cy="30175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457200" y="1691640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1691640"/>
            <a:ext cx="2286000" cy="2926080"/>
          </a:xfrm>
          <a:prstGeom prst="rect">
            <a:avLst/>
          </a:prstGeom>
          <a:solidFill>
            <a:srgbClr val="0A0E1A">
              <a:alpha val="90000"/>
            </a:srgbClr>
          </a:solidFill>
          <a:ln w="1143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29400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6.0% – 7.4%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62940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 (Moody's, May 2026) sees India slowing to 6%. The government's own advance estimate is 7.4%.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2940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the floor, India outpaces every other large economy.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IMF · World Bank · Goldman Sachs · Moody's · RBI · GoI · UN (2026)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INDIA BLEEDS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pressure points the slowdown will press 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77640" cy="1508760"/>
          </a:xfrm>
          <a:prstGeom prst="rect">
            <a:avLst/>
          </a:prstGeom>
          <a:solidFill>
            <a:srgbClr val="0A0E1A">
              <a:alpha val="90000"/>
            </a:srgbClr>
          </a:solidFill>
          <a:ln w="6350">
            <a:solidFill>
              <a:srgbClr val="8B7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1508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import bill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2128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26151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energy needs are imported. Middle East conflict pushed Moody's to cut FY26 GDP forecast by 0.8 pp.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3977640" cy="1508760"/>
          </a:xfrm>
          <a:prstGeom prst="rect">
            <a:avLst/>
          </a:prstGeom>
          <a:solidFill>
            <a:srgbClr val="0A0E1A">
              <a:alpha val="90000"/>
            </a:srgbClr>
          </a:solidFill>
          <a:ln w="6350">
            <a:solidFill>
              <a:srgbClr val="8B7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554480"/>
            <a:ext cx="54864" cy="1508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73752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tariff overhang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73752" y="22128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73752" y="26151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tariff rate on Indian goods post Feb 2026 trade deal — down from 50%, but still a drag on goods exports (~4% of GDP).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977640" cy="1508760"/>
          </a:xfrm>
          <a:prstGeom prst="rect">
            <a:avLst/>
          </a:prstGeom>
          <a:solidFill>
            <a:srgbClr val="0A0E1A">
              <a:alpha val="90000"/>
            </a:srgbClr>
          </a:solidFill>
          <a:ln w="6350">
            <a:solidFill>
              <a:srgbClr val="8B7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54864" cy="1508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sector restructuring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" y="3858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120K+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" y="42611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employees impacted by Jan 2026. Oracle, TCS, Cognizant leading the cuts as AI compresses traditional service roles.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200400"/>
            <a:ext cx="3977640" cy="1508760"/>
          </a:xfrm>
          <a:prstGeom prst="rect">
            <a:avLst/>
          </a:prstGeom>
          <a:solidFill>
            <a:srgbClr val="0A0E1A">
              <a:alpha val="90000"/>
            </a:srgbClr>
          </a:solidFill>
          <a:ln w="6350">
            <a:solidFill>
              <a:srgbClr val="8B74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200400"/>
            <a:ext cx="54864" cy="1508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working-capital squeeze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73752" y="3858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→ 120 days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873752" y="42611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cycles have stretched. Ocean freight on some routes spiked from ~$300 to $8,500 after the early-2026 conflict.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Moody's · IMF · Drishti IAS · SiliconIndia · Hirist (2026)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INDIA HOLDS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keeping India upright while the world wobbles.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329184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5506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demand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pPr indent="0" marL="0">
              <a:buNone/>
            </a:pPr>
            <a:r>
              <a:rPr lang="en-US" sz="1100" i="1" dirty="0">
                <a:solidFill>
                  <a:srgbClr val="F5F2E8"/>
                </a:solidFill>
              </a:rPr>
              <a:t>  of GDP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3232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consumption projected to grow 7% in FY26 — India is not export-led the way East Asia 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5506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under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2.0%</a:t>
            </a:r>
            <a:pPr indent="0" marL="0">
              <a:buNone/>
            </a:pPr>
            <a:r>
              <a:rPr lang="en-US" sz="1100" i="1" dirty="0">
                <a:solidFill>
                  <a:srgbClr val="F5F2E8"/>
                </a:solidFill>
              </a:rPr>
              <a:t>  RBI forecast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19472" y="2423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inflation averaging at a multi-year low. This gives the RBI room to keep cutting rates.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8269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headroom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3547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5.25%</a:t>
            </a:r>
            <a:pPr indent="0" marL="0">
              <a:buNone/>
            </a:pPr>
            <a:r>
              <a:rPr lang="en-US" sz="1100" i="1" dirty="0">
                <a:solidFill>
                  <a:srgbClr val="F5F2E8"/>
                </a:solidFill>
              </a:rPr>
              <a:t>  repo rate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3232" y="40507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has already cut 25 bps and signalled more. Cheaper credit = cushion for business and households.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282696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major economy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547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6%+</a:t>
            </a:r>
            <a:pPr indent="0" marL="0">
              <a:buNone/>
            </a:pPr>
            <a:r>
              <a:rPr lang="en-US" sz="1100" i="1" dirty="0">
                <a:solidFill>
                  <a:srgbClr val="F5F2E8"/>
                </a:solidFill>
              </a:rPr>
              <a:t>  consensus floor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19472" y="40507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harshest 2026 forecast still puts India ahead of the US, China, EU, Japan, Brazil.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RBI · GoI Advance Estimates · Goldman Sachs (2026)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BITE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Indians are already feeling 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hard numbers from the front lines, late 2025 – Q2 2026.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965960" cy="2743200"/>
          </a:xfrm>
          <a:prstGeom prst="rect">
            <a:avLst/>
          </a:prstGeom>
          <a:solidFill>
            <a:srgbClr val="0A0E1A">
              <a:alpha val="92000"/>
            </a:srgbClr>
          </a:solidFill>
          <a:ln w="6350">
            <a:solidFill>
              <a:srgbClr val="8B7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120K+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66928" y="2788920"/>
            <a:ext cx="41148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employees impacted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3832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Jan 2026, layoffs across Oracle (~12K in India), TCS (~12K), Cognizant (~10K) and others.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1783080"/>
            <a:ext cx="1965960" cy="2743200"/>
          </a:xfrm>
          <a:prstGeom prst="rect">
            <a:avLst/>
          </a:prstGeom>
          <a:solidFill>
            <a:srgbClr val="0A0E1A">
              <a:alpha val="92000"/>
            </a:srgbClr>
          </a:solidFill>
          <a:ln w="6350">
            <a:solidFill>
              <a:srgbClr val="8B7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₹30 lakh Cr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2761488" y="2788920"/>
            <a:ext cx="41148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2761488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credit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61488" y="33832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SIDBI–Crisil 2025: 35% of small businesses remain unregistered and invisible to formal credit.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783080"/>
            <a:ext cx="1965960" cy="2743200"/>
          </a:xfrm>
          <a:prstGeom prst="rect">
            <a:avLst/>
          </a:prstGeom>
          <a:solidFill>
            <a:srgbClr val="0A0E1A">
              <a:alpha val="92000"/>
            </a:srgbClr>
          </a:solidFill>
          <a:ln w="6350">
            <a:solidFill>
              <a:srgbClr val="8B7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₹20,413 Cr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956048" y="2788920"/>
            <a:ext cx="41148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4956048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delayed payments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33832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82,215 pending applications on the Samadhaan Portal. Payment cycles now 120 days vs. 30.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1783080"/>
            <a:ext cx="1965960" cy="2743200"/>
          </a:xfrm>
          <a:prstGeom prst="rect">
            <a:avLst/>
          </a:prstGeom>
          <a:solidFill>
            <a:srgbClr val="0A0E1A">
              <a:alpha val="92000"/>
            </a:srgbClr>
          </a:solidFill>
          <a:ln w="6350">
            <a:solidFill>
              <a:srgbClr val="8B7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19202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 → $8,500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150608" y="2788920"/>
            <a:ext cx="41148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7150608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surge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50608" y="338328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Per-container costs on certain export routes after the early-2026 West Asia escalation.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SIDBI–Crisil · Drishti IAS · Hirist (2025–26)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· JOB-GOERS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you're salaried — six moves to make now.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no formal unemployment insurance like the West. Your runway is what you build.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3063240"/>
          </a:xfrm>
          <a:prstGeom prst="rect">
            <a:avLst/>
          </a:prstGeom>
          <a:solidFill>
            <a:srgbClr val="0A0E1A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12-month emergency fund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093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6-month rule is outdated. White-collar IT severance in India is minimal.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01768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 where the money is moving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2093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cloud, data engineering, applied ML. Even 4–6 months of focused upskilling resets your market value.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770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personal brand publicly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08152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presence, articles, projects on GitHub or a portfolio site. Invisible employees go first.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2770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01768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your income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01768" y="308152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salary is one customer. A side consult, freelance retainer, or asset income changes the math.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7581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3758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early signals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40690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high-visibility projects, frozen backfills, all-hands replaced by 1:1s — start preparing yesterday.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37581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01768" y="3758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exit numbers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01768" y="40690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pay, EPF balance, gratuity, health cover extension. Don't sign severance same-day — negotiate.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FinanceFunda · SiliconIndia · Hirist · Inradius (2026)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· SMALL &amp; MEDIUM BUSINESS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an SMB — six moves to make now.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is the battle. The government has actually moved on this — most owners aren't using the tools.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3063240"/>
          </a:xfrm>
          <a:prstGeom prst="rect">
            <a:avLst/>
          </a:prstGeom>
          <a:solidFill>
            <a:srgbClr val="0A0E1A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Udyam — 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093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MSMEs are unregistered and algorithmically invisible to every scheme. Costs nothing. Unlocks everything.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01768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receivables onto TReDS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20939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CPSEs are now mandated to settle via TReDS. ₹7 lakh+ Cr already unlocked. Get paid in days, not months.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770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on Samadhaan for stuck dues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08152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₹20,413 Cr is locked in pending applications. Filing creates a legal trail and pressure on the buyer.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2770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01768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CGTMSE — collateral-free credit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01768" y="308152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up to ₹5 Cr without collateral, 85% guaranteed. The SME Growth Fund (₹10,000 Cr) is fresh equity capital.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7581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3758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4–6 month cash buffer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40690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payables, accelerate receivables, renegotiate vendor terms. Cash trumps growth in a downturn.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37581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01768" y="3758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De-risk: customers, markets, costs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01768" y="40690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buyer is &gt;30% of revenue, you have a buyer problem. If energy is &gt;15% of cost, you have an oil problem.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Ministry of MSME · PIB · Budget 2026-27 · Drishti IAS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NET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government levers actively buffering MSMEs in 2026.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493776"/>
          </a:xfrm>
          <a:prstGeom prst="rect">
            <a:avLst/>
          </a:prstGeom>
          <a:solidFill>
            <a:srgbClr val="0A0E1A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45720" cy="4937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550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Growth Fund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6550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₹10,000 Cr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6550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capital for high-potential MSMEs — Union Budget 2026-27.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8229600" cy="493776"/>
          </a:xfrm>
          <a:prstGeom prst="rect">
            <a:avLst/>
          </a:prstGeom>
          <a:solidFill>
            <a:srgbClr val="0A0E1A">
              <a:alpha val="7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67128"/>
            <a:ext cx="45720" cy="4937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Fund (Self-Reliant India)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2219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₹15,442 Cr deployed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22219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injected into 682 high-growth MSMEs to date.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8229600" cy="493776"/>
          </a:xfrm>
          <a:prstGeom prst="rect">
            <a:avLst/>
          </a:prstGeom>
          <a:solidFill>
            <a:srgbClr val="0A0E1A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34056"/>
            <a:ext cx="45720" cy="4937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889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TReDS + CGTMSE invoice discount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7889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backed by guarantee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7889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bill payment for small suppliers, settled through CPSEs.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00984"/>
            <a:ext cx="8229600" cy="493776"/>
          </a:xfrm>
          <a:prstGeom prst="rect">
            <a:avLst/>
          </a:prstGeom>
          <a:solidFill>
            <a:srgbClr val="0A0E1A">
              <a:alpha val="7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300984"/>
            <a:ext cx="45720" cy="4937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558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(export logistics)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33558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50% reimbursement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33558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Mar 2026 for non-ECGC-insured exporters hit by freight surge.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67912"/>
            <a:ext cx="8229600" cy="493776"/>
          </a:xfrm>
          <a:prstGeom prst="rect">
            <a:avLst/>
          </a:prstGeom>
          <a:solidFill>
            <a:srgbClr val="0A0E1A">
              <a:alpha val="8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867912"/>
            <a:ext cx="45720" cy="4937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9227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CGTMSE collateral-free loans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392277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₹5 Cr, 85% guaranteed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392277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67+ lakh beneficiaries since inception. ₹1.46 lakh Cr approved Jan–Nov 2023.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Ministry of MSME · PIB · Union Budget 2026-27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374904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Wounded, not knocked down.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growth is heading to its weakest reading in years. India will slow — to somewhere between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 and 6.9%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depending on the energy and tariff trajectory.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job-goers: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2026 as the year you build runway and reskill — not the year you coast on existing role tenure.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4015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SMBs: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wins. Formalise on Udyam, use TReDS, file on Samadhaan, build a 4-6 month buffer.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9684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everyone: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structurally the strongest large economy on offer. The slowdown is real — and survivable with discipline.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800600"/>
            <a:ext cx="566928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18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 THE ABYSS  ·  RITZ MEDIA WORLD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METHODOLOGY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64592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what we read so you don't have to.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3154680"/>
          </a:xfrm>
          <a:prstGeom prst="rect">
            <a:avLst/>
          </a:prstGeom>
          <a:solidFill>
            <a:srgbClr val="0A0E1A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OUTLOOK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0" cy="228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World Economic Outlook, April 2026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Global Economic Prospects, Jan 2026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WESP 2026 (UNCTAD)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 Spring Meetings analysis, Apr 2026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/ Forum Stories, Apr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375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OUTLOOK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874520"/>
            <a:ext cx="457200" cy="228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0116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Moody's Global Macro Outlook, May 2026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 India Outlook, Feb 2026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Monetary Policy Statement, FY26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 First Advance Estimates, Jan 2026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Survey 2024-25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&amp; JOBS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457200" cy="228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0116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Budget 2026-27 (MSME provisions)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MSME / PIB releases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IAS — MSME structural analysis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SiliconIndia, Hirist — tech layoff coverage</a:t>
            </a:r>
            <a:endParaRPr lang="en-US" sz="105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○"/>
            </a:pPr>
            <a:r>
              <a:rPr lang="en-US" sz="105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SIDBI-Crisil MSME Pulse report, 2025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A0E1A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Ritz Media World  ·  ritzmediaworld.com  ·  May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18120" y="4800600"/>
            <a:ext cx="1188720" cy="274320"/>
          </a:xfrm>
          <a:prstGeom prst="rect">
            <a:avLst/>
          </a:prstGeom>
          <a:solidFill>
            <a:srgbClr val="0A0E1A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818120" y="48188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in the Abyss — Global Slowdown &amp; India</dc:title>
  <dc:subject>PptxGenJS Presentation</dc:subject>
  <dc:creator>Ritz Media World</dc:creator>
  <cp:lastModifiedBy>Ritz Media World</cp:lastModifiedBy>
  <cp:revision>1</cp:revision>
  <dcterms:created xsi:type="dcterms:W3CDTF">2026-05-18T05:18:23Z</dcterms:created>
  <dcterms:modified xsi:type="dcterms:W3CDTF">2026-05-18T05:18:23Z</dcterms:modified>
</cp:coreProperties>
</file>